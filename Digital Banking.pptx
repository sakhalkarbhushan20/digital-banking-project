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37C99E-83DE-4465-AA13-145349928321}"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BBA16-540E-4619-B898-CED3A992A9B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364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37C99E-83DE-4465-AA13-145349928321}"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1966323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37C99E-83DE-4465-AA13-145349928321}"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BBA16-540E-4619-B898-CED3A992A9B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8926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37C99E-83DE-4465-AA13-145349928321}"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2834966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37C99E-83DE-4465-AA13-145349928321}" type="datetimeFigureOut">
              <a:rPr lang="en-IN" smtClean="0"/>
              <a:t>20-05-2026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3817711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37C99E-83DE-4465-AA13-145349928321}" type="datetimeFigureOut">
              <a:rPr lang="en-IN" smtClean="0"/>
              <a:t>20-05-2026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3579606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B37C99E-83DE-4465-AA13-145349928321}" type="datetimeFigureOut">
              <a:rPr lang="en-IN" smtClean="0"/>
              <a:t>20-05-2026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928178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B37C99E-83DE-4465-AA13-145349928321}" type="datetimeFigureOut">
              <a:rPr lang="en-IN" smtClean="0"/>
              <a:t>20-05-2026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CDBBA16-540E-4619-B898-CED3A992A9B9}" type="slidenum">
              <a:rPr lang="en-IN" smtClean="0"/>
              <a:t>‹#›</a:t>
            </a:fld>
            <a:endParaRPr lang="en-IN"/>
          </a:p>
        </p:txBody>
      </p:sp>
    </p:spTree>
    <p:extLst>
      <p:ext uri="{BB962C8B-B14F-4D97-AF65-F5344CB8AC3E}">
        <p14:creationId xmlns:p14="http://schemas.microsoft.com/office/powerpoint/2010/main" val="608949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B37C99E-83DE-4465-AA13-145349928321}" type="datetimeFigureOut">
              <a:rPr lang="en-IN" smtClean="0"/>
              <a:t>20-05-2026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2577355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37C99E-83DE-4465-AA13-145349928321}"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34819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37C99E-83DE-4465-AA13-145349928321}" type="datetimeFigureOut">
              <a:rPr lang="en-IN" smtClean="0"/>
              <a:t>20-05-2026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CDBBA16-540E-4619-B898-CED3A992A9B9}" type="slidenum">
              <a:rPr lang="en-IN" smtClean="0"/>
              <a:t>‹#›</a:t>
            </a:fld>
            <a:endParaRPr lang="en-IN"/>
          </a:p>
        </p:txBody>
      </p:sp>
    </p:spTree>
    <p:extLst>
      <p:ext uri="{BB962C8B-B14F-4D97-AF65-F5344CB8AC3E}">
        <p14:creationId xmlns:p14="http://schemas.microsoft.com/office/powerpoint/2010/main" val="1499175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B37C99E-83DE-4465-AA13-145349928321}" type="datetimeFigureOut">
              <a:rPr lang="en-IN" smtClean="0"/>
              <a:t>20-05-2026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CDBBA16-540E-4619-B898-CED3A992A9B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65637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F8B611-4490-B323-8281-C110182AB3F1}"/>
              </a:ext>
            </a:extLst>
          </p:cNvPr>
          <p:cNvPicPr>
            <a:picLocks noChangeAspect="1"/>
          </p:cNvPicPr>
          <p:nvPr/>
        </p:nvPicPr>
        <p:blipFill>
          <a:blip r:embed="rId2"/>
          <a:stretch>
            <a:fillRect/>
          </a:stretch>
        </p:blipFill>
        <p:spPr>
          <a:xfrm>
            <a:off x="379828" y="323557"/>
            <a:ext cx="11099409" cy="6400800"/>
          </a:xfrm>
          <a:prstGeom prst="rect">
            <a:avLst/>
          </a:prstGeom>
        </p:spPr>
      </p:pic>
      <p:sp>
        <p:nvSpPr>
          <p:cNvPr id="2" name="TextBox 1">
            <a:extLst>
              <a:ext uri="{FF2B5EF4-FFF2-40B4-BE49-F238E27FC236}">
                <a16:creationId xmlns:a16="http://schemas.microsoft.com/office/drawing/2014/main" id="{587C82F2-A3DD-1146-8D91-F1BFA1362F9B}"/>
              </a:ext>
            </a:extLst>
          </p:cNvPr>
          <p:cNvSpPr txBox="1"/>
          <p:nvPr/>
        </p:nvSpPr>
        <p:spPr>
          <a:xfrm>
            <a:off x="7061983" y="5774787"/>
            <a:ext cx="4417254" cy="461665"/>
          </a:xfrm>
          <a:prstGeom prst="rect">
            <a:avLst/>
          </a:prstGeom>
          <a:noFill/>
        </p:spPr>
        <p:txBody>
          <a:bodyPr wrap="square" rtlCol="0">
            <a:spAutoFit/>
          </a:bodyPr>
          <a:lstStyle/>
          <a:p>
            <a:r>
              <a:rPr lang="en-US" sz="2400" b="1" dirty="0">
                <a:latin typeface="Arial" panose="020B0604020202020204" pitchFamily="34" charset="0"/>
                <a:cs typeface="Arial" panose="020B0604020202020204" pitchFamily="34" charset="0"/>
              </a:rPr>
              <a:t>Author :Bhushan </a:t>
            </a:r>
            <a:r>
              <a:rPr lang="en-US" sz="2400" b="1" dirty="0" err="1">
                <a:latin typeface="Arial" panose="020B0604020202020204" pitchFamily="34" charset="0"/>
                <a:cs typeface="Arial" panose="020B0604020202020204" pitchFamily="34" charset="0"/>
              </a:rPr>
              <a:t>Sakhalkar</a:t>
            </a:r>
            <a:endParaRPr lang="en-IN"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1909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uture of Banking: Mobile Banking, Retail &amp; Digital Banking-Enterslice">
            <a:extLst>
              <a:ext uri="{FF2B5EF4-FFF2-40B4-BE49-F238E27FC236}">
                <a16:creationId xmlns:a16="http://schemas.microsoft.com/office/drawing/2014/main" id="{0ADCDDA1-CFBD-3B38-0C2E-F09981946331}"/>
              </a:ext>
            </a:extLst>
          </p:cNvPr>
          <p:cNvPicPr>
            <a:picLocks noChangeAspect="1"/>
          </p:cNvPicPr>
          <p:nvPr/>
        </p:nvPicPr>
        <p:blipFill>
          <a:blip r:embed="rId2"/>
          <a:stretch>
            <a:fillRect/>
          </a:stretch>
        </p:blipFill>
        <p:spPr>
          <a:xfrm>
            <a:off x="1139484" y="745588"/>
            <a:ext cx="9833316" cy="5486400"/>
          </a:xfrm>
          <a:prstGeom prst="rect">
            <a:avLst/>
          </a:prstGeom>
        </p:spPr>
      </p:pic>
    </p:spTree>
    <p:extLst>
      <p:ext uri="{BB962C8B-B14F-4D97-AF65-F5344CB8AC3E}">
        <p14:creationId xmlns:p14="http://schemas.microsoft.com/office/powerpoint/2010/main" val="3486522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983933-6638-1E13-6627-EAD24E984DA4}"/>
              </a:ext>
            </a:extLst>
          </p:cNvPr>
          <p:cNvSpPr txBox="1"/>
          <p:nvPr/>
        </p:nvSpPr>
        <p:spPr>
          <a:xfrm>
            <a:off x="1294227" y="2821059"/>
            <a:ext cx="9917723" cy="3368936"/>
          </a:xfrm>
          <a:prstGeom prst="rect">
            <a:avLst/>
          </a:prstGeom>
          <a:noFill/>
        </p:spPr>
        <p:txBody>
          <a:bodyPr wrap="square">
            <a:spAutoFit/>
          </a:bodyPr>
          <a:lstStyle/>
          <a:p>
            <a:pPr>
              <a:lnSpc>
                <a:spcPct val="107000"/>
              </a:lnSpc>
              <a:spcBef>
                <a:spcPts val="575"/>
              </a:spcBef>
              <a:spcAft>
                <a:spcPts val="600"/>
              </a:spcAft>
              <a:buNone/>
            </a:pPr>
            <a:r>
              <a:rPr lang="en-US" sz="2000" kern="1200" dirty="0">
                <a:solidFill>
                  <a:srgbClr val="262626"/>
                </a:solidFill>
                <a:effectLst/>
                <a:latin typeface="Arial" panose="020B0604020202020204" pitchFamily="34" charset="0"/>
                <a:ea typeface="Calibri" panose="020F0502020204030204" pitchFamily="34" charset="0"/>
                <a:cs typeface="Times New Roman" panose="02020603050405020304" pitchFamily="18" charset="0"/>
              </a:rPr>
              <a:t>Digital banking digitizes all traditional banking activities, allowing customers to manage accounts, transfer funds, pay bills, and invest via online platforms and mobile apps without visiting a branch. It offers 24/7 access, enhanced efficiency, and advanced security, including biometrics and real-time alerts. Digital banking </a:t>
            </a:r>
            <a:r>
              <a:rPr lang="en-US" sz="2000" kern="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is a structured MySQL Workbench project of some customers and there details of accounts, transactions, cards and loans. Through queries, joins, subqueries and views the data enables that we have to move towards new generation of digital banking. Using a snowflake schema, it supports efficient data analysis and smarter decision-making. This project showcases database design and advanced SQL skills for real-world banking applications.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3DE91C9-48B4-6EA2-5CC1-D75DDBE7A234}"/>
              </a:ext>
            </a:extLst>
          </p:cNvPr>
          <p:cNvSpPr txBox="1"/>
          <p:nvPr/>
        </p:nvSpPr>
        <p:spPr>
          <a:xfrm>
            <a:off x="3261360" y="1322364"/>
            <a:ext cx="5303520" cy="584775"/>
          </a:xfrm>
          <a:prstGeom prst="rect">
            <a:avLst/>
          </a:prstGeom>
          <a:noFill/>
        </p:spPr>
        <p:txBody>
          <a:bodyPr wrap="square" rtlCol="0">
            <a:spAutoFit/>
          </a:bodyPr>
          <a:lstStyle/>
          <a:p>
            <a:pPr algn="ctr"/>
            <a:r>
              <a:rPr lang="en-US" sz="3200" b="1" dirty="0">
                <a:latin typeface="Arial" panose="020B0604020202020204" pitchFamily="34" charset="0"/>
                <a:cs typeface="Arial" panose="020B0604020202020204" pitchFamily="34" charset="0"/>
              </a:rPr>
              <a:t>ABSTRACT</a:t>
            </a:r>
            <a:endParaRPr lang="en-IN"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2413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66E90-4F8C-F557-3384-F326C5EFCD75}"/>
              </a:ext>
            </a:extLst>
          </p:cNvPr>
          <p:cNvSpPr txBox="1"/>
          <p:nvPr/>
        </p:nvSpPr>
        <p:spPr>
          <a:xfrm>
            <a:off x="4703631" y="195982"/>
            <a:ext cx="2784737" cy="584775"/>
          </a:xfrm>
          <a:prstGeom prst="rect">
            <a:avLst/>
          </a:prstGeom>
          <a:noFill/>
        </p:spPr>
        <p:txBody>
          <a:bodyPr wrap="none" rtlCol="0">
            <a:spAutoFit/>
          </a:bodyPr>
          <a:lstStyle/>
          <a:p>
            <a:pPr algn="just"/>
            <a:r>
              <a:rPr lang="en-US" sz="3200" b="1" u="sng" dirty="0">
                <a:latin typeface="Arial" panose="020B0604020202020204" pitchFamily="34" charset="0"/>
                <a:cs typeface="Arial" panose="020B0604020202020204" pitchFamily="34" charset="0"/>
              </a:rPr>
              <a:t>EER Diagram</a:t>
            </a:r>
            <a:endParaRPr lang="en-IN" sz="3200" b="1" u="sng"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F6428BC-E63A-1264-EF5F-0EE1F534D2CB}"/>
              </a:ext>
            </a:extLst>
          </p:cNvPr>
          <p:cNvPicPr>
            <a:picLocks noChangeAspect="1"/>
          </p:cNvPicPr>
          <p:nvPr/>
        </p:nvPicPr>
        <p:blipFill rotWithShape="1">
          <a:blip r:embed="rId2"/>
          <a:srcRect l="8768" t="10601" r="4783" b="13935"/>
          <a:stretch>
            <a:fillRect/>
          </a:stretch>
        </p:blipFill>
        <p:spPr bwMode="auto">
          <a:xfrm>
            <a:off x="1111348" y="1041009"/>
            <a:ext cx="10142805" cy="503623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90706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EE2E-64A0-EC77-0E46-54D64F44951A}"/>
              </a:ext>
            </a:extLst>
          </p:cNvPr>
          <p:cNvSpPr>
            <a:spLocks noGrp="1"/>
          </p:cNvSpPr>
          <p:nvPr>
            <p:ph type="title"/>
          </p:nvPr>
        </p:nvSpPr>
        <p:spPr>
          <a:xfrm>
            <a:off x="1097280" y="286604"/>
            <a:ext cx="10058400" cy="937286"/>
          </a:xfrm>
        </p:spPr>
        <p:txBody>
          <a:bodyPr>
            <a:normAutofit/>
          </a:bodyPr>
          <a:lstStyle/>
          <a:p>
            <a:pPr algn="ctr"/>
            <a:r>
              <a:rPr lang="en-US" sz="3200" b="1" u="sng" dirty="0">
                <a:latin typeface="Arial" panose="020B0604020202020204" pitchFamily="34" charset="0"/>
                <a:cs typeface="Arial" panose="020B0604020202020204" pitchFamily="34" charset="0"/>
              </a:rPr>
              <a:t>Schema for customer table</a:t>
            </a:r>
            <a:endParaRPr lang="en-IN" sz="3200" b="1" u="sng"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96BD838-F7A0-C35F-A1CB-661CE9AA36A9}"/>
              </a:ext>
            </a:extLst>
          </p:cNvPr>
          <p:cNvPicPr>
            <a:picLocks noChangeAspect="1"/>
          </p:cNvPicPr>
          <p:nvPr/>
        </p:nvPicPr>
        <p:blipFill rotWithShape="1">
          <a:blip r:embed="rId2"/>
          <a:srcRect l="12606" t="-1051" r="24362" b="27459"/>
          <a:stretch>
            <a:fillRect/>
          </a:stretch>
        </p:blipFill>
        <p:spPr bwMode="auto">
          <a:xfrm>
            <a:off x="1097281" y="1674056"/>
            <a:ext cx="10058400" cy="468454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95490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2E535F-45E9-7307-5D5A-AF36F6F328B2}"/>
              </a:ext>
            </a:extLst>
          </p:cNvPr>
          <p:cNvSpPr txBox="1"/>
          <p:nvPr/>
        </p:nvSpPr>
        <p:spPr>
          <a:xfrm>
            <a:off x="3370349" y="548639"/>
            <a:ext cx="5451301" cy="584775"/>
          </a:xfrm>
          <a:prstGeom prst="rect">
            <a:avLst/>
          </a:prstGeom>
          <a:noFill/>
        </p:spPr>
        <p:txBody>
          <a:bodyPr wrap="none" rtlCol="0">
            <a:spAutoFit/>
          </a:bodyPr>
          <a:lstStyle/>
          <a:p>
            <a:pPr algn="just"/>
            <a:r>
              <a:rPr lang="en-US" sz="3200" b="1" u="sng" dirty="0">
                <a:latin typeface="Arial" panose="020B0604020202020204" pitchFamily="34" charset="0"/>
                <a:cs typeface="Arial" panose="020B0604020202020204" pitchFamily="34" charset="0"/>
              </a:rPr>
              <a:t>Schema for Accounts table</a:t>
            </a:r>
            <a:endParaRPr lang="en-IN" sz="3200" b="1" u="sng"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A55F3E73-845C-430A-D641-E5204D4468C9}"/>
              </a:ext>
            </a:extLst>
          </p:cNvPr>
          <p:cNvPicPr>
            <a:picLocks noChangeAspect="1"/>
          </p:cNvPicPr>
          <p:nvPr/>
        </p:nvPicPr>
        <p:blipFill rotWithShape="1">
          <a:blip r:embed="rId2"/>
          <a:srcRect l="12803" r="26333" b="33789"/>
          <a:stretch>
            <a:fillRect/>
          </a:stretch>
        </p:blipFill>
        <p:spPr bwMode="auto">
          <a:xfrm>
            <a:off x="1012874" y="1519311"/>
            <a:ext cx="9959926" cy="467047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18592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C65B4-CB38-2EA3-8644-58A394B97779}"/>
              </a:ext>
            </a:extLst>
          </p:cNvPr>
          <p:cNvSpPr>
            <a:spLocks noGrp="1"/>
          </p:cNvSpPr>
          <p:nvPr>
            <p:ph type="title"/>
          </p:nvPr>
        </p:nvSpPr>
        <p:spPr>
          <a:xfrm>
            <a:off x="1097280" y="286603"/>
            <a:ext cx="10058400" cy="824745"/>
          </a:xfrm>
        </p:spPr>
        <p:txBody>
          <a:bodyPr>
            <a:normAutofit/>
          </a:bodyPr>
          <a:lstStyle/>
          <a:p>
            <a:pPr algn="ctr"/>
            <a:r>
              <a:rPr lang="en-US" sz="3200" b="1" u="sng" dirty="0">
                <a:latin typeface="Arial" panose="020B0604020202020204" pitchFamily="34" charset="0"/>
                <a:cs typeface="Arial" panose="020B0604020202020204" pitchFamily="34" charset="0"/>
              </a:rPr>
              <a:t>Schema for Transactions table</a:t>
            </a:r>
            <a:endParaRPr lang="en-IN" sz="3200" b="1" u="sng"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D0475941-FFB3-8509-3385-1CE70B46D11D}"/>
              </a:ext>
            </a:extLst>
          </p:cNvPr>
          <p:cNvPicPr>
            <a:picLocks noChangeAspect="1"/>
          </p:cNvPicPr>
          <p:nvPr/>
        </p:nvPicPr>
        <p:blipFill rotWithShape="1">
          <a:blip r:embed="rId2"/>
          <a:srcRect l="14181" r="28109" b="35183"/>
          <a:stretch>
            <a:fillRect/>
          </a:stretch>
        </p:blipFill>
        <p:spPr bwMode="auto">
          <a:xfrm>
            <a:off x="1209822" y="1406769"/>
            <a:ext cx="10058400" cy="43750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44117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B3B5E-9FDA-C316-5AB9-014E78A4F477}"/>
              </a:ext>
            </a:extLst>
          </p:cNvPr>
          <p:cNvSpPr>
            <a:spLocks noGrp="1"/>
          </p:cNvSpPr>
          <p:nvPr>
            <p:ph type="title"/>
          </p:nvPr>
        </p:nvSpPr>
        <p:spPr>
          <a:xfrm>
            <a:off x="1097280" y="286604"/>
            <a:ext cx="10058400" cy="768474"/>
          </a:xfrm>
        </p:spPr>
        <p:txBody>
          <a:bodyPr>
            <a:normAutofit/>
          </a:bodyPr>
          <a:lstStyle/>
          <a:p>
            <a:pPr algn="ctr"/>
            <a:r>
              <a:rPr lang="en-US" sz="3200" b="1" u="sng" dirty="0">
                <a:latin typeface="Arial" panose="020B0604020202020204" pitchFamily="34" charset="0"/>
                <a:cs typeface="Arial" panose="020B0604020202020204" pitchFamily="34" charset="0"/>
              </a:rPr>
              <a:t>Schema for Loans table</a:t>
            </a:r>
            <a:endParaRPr lang="en-IN" sz="3200" b="1" u="sng"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30F102F-1CA3-A785-8E3F-ABEDFD8A73B5}"/>
              </a:ext>
            </a:extLst>
          </p:cNvPr>
          <p:cNvPicPr>
            <a:picLocks noChangeAspect="1"/>
          </p:cNvPicPr>
          <p:nvPr/>
        </p:nvPicPr>
        <p:blipFill rotWithShape="1">
          <a:blip r:embed="rId2"/>
          <a:srcRect l="12805" t="700" r="29477" b="32008"/>
          <a:stretch>
            <a:fillRect/>
          </a:stretch>
        </p:blipFill>
        <p:spPr bwMode="auto">
          <a:xfrm>
            <a:off x="1097281" y="1322364"/>
            <a:ext cx="10058400" cy="467047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02629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DE47F-EF78-B011-0A4B-7C465FC7BAA0}"/>
              </a:ext>
            </a:extLst>
          </p:cNvPr>
          <p:cNvSpPr>
            <a:spLocks noGrp="1"/>
          </p:cNvSpPr>
          <p:nvPr>
            <p:ph type="title"/>
          </p:nvPr>
        </p:nvSpPr>
        <p:spPr>
          <a:xfrm>
            <a:off x="1097280" y="286604"/>
            <a:ext cx="10058400" cy="684068"/>
          </a:xfrm>
        </p:spPr>
        <p:txBody>
          <a:bodyPr>
            <a:normAutofit/>
          </a:bodyPr>
          <a:lstStyle/>
          <a:p>
            <a:pPr algn="ctr"/>
            <a:r>
              <a:rPr lang="en-US" sz="3200" b="1" u="sng" dirty="0">
                <a:latin typeface="Arial" panose="020B0604020202020204" pitchFamily="34" charset="0"/>
                <a:cs typeface="Arial" panose="020B0604020202020204" pitchFamily="34" charset="0"/>
              </a:rPr>
              <a:t>Schema for cards table</a:t>
            </a:r>
            <a:endParaRPr lang="en-IN" sz="3200" b="1" u="sng"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CB4A4D1F-327A-AFBB-7936-B1D9E589E29B}"/>
              </a:ext>
            </a:extLst>
          </p:cNvPr>
          <p:cNvPicPr>
            <a:picLocks noChangeAspect="1"/>
          </p:cNvPicPr>
          <p:nvPr/>
        </p:nvPicPr>
        <p:blipFill rotWithShape="1">
          <a:blip r:embed="rId2"/>
          <a:srcRect l="12859" r="33974" b="33429"/>
          <a:stretch>
            <a:fillRect/>
          </a:stretch>
        </p:blipFill>
        <p:spPr bwMode="auto">
          <a:xfrm>
            <a:off x="1097280" y="1519311"/>
            <a:ext cx="10058400" cy="437505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99717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2067A-BE04-3280-35C9-BFDB5775AD6E}"/>
              </a:ext>
            </a:extLst>
          </p:cNvPr>
          <p:cNvSpPr>
            <a:spLocks noGrp="1"/>
          </p:cNvSpPr>
          <p:nvPr>
            <p:ph type="title"/>
          </p:nvPr>
        </p:nvSpPr>
        <p:spPr>
          <a:xfrm>
            <a:off x="1066800" y="313226"/>
            <a:ext cx="10058400" cy="1276423"/>
          </a:xfrm>
        </p:spPr>
        <p:txBody>
          <a:bodyPr>
            <a:noAutofit/>
          </a:bodyPr>
          <a:lstStyle/>
          <a:p>
            <a:pPr algn="ctr"/>
            <a:r>
              <a:rPr lang="en-US" sz="24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Customer base calculation</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select * from customers </a:t>
            </a:r>
            <a:r>
              <a:rPr lang="en-US" sz="2400" dirty="0">
                <a:latin typeface="Arial" panose="020B0604020202020204" pitchFamily="34" charset="0"/>
                <a:cs typeface="Arial" panose="020B0604020202020204" pitchFamily="34" charset="0"/>
              </a:rPr>
              <a:t>query is used for customer base.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will help to know customer base for marketing. </a:t>
            </a:r>
            <a:br>
              <a:rPr lang="en-US" sz="2400" dirty="0">
                <a:latin typeface="Arial" panose="020B0604020202020204" pitchFamily="34" charset="0"/>
                <a:cs typeface="Arial" panose="020B0604020202020204" pitchFamily="34" charset="0"/>
              </a:rPr>
            </a:br>
            <a:endParaRPr lang="en-IN" sz="24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059208F-E6D5-68A1-F6F1-A1CDE08AA63D}"/>
              </a:ext>
            </a:extLst>
          </p:cNvPr>
          <p:cNvPicPr>
            <a:picLocks noChangeAspect="1"/>
          </p:cNvPicPr>
          <p:nvPr/>
        </p:nvPicPr>
        <p:blipFill rotWithShape="1">
          <a:blip r:embed="rId2"/>
          <a:srcRect l="12213" r="25148" b="30991"/>
          <a:stretch>
            <a:fillRect/>
          </a:stretch>
        </p:blipFill>
        <p:spPr bwMode="auto">
          <a:xfrm>
            <a:off x="1097280" y="1589649"/>
            <a:ext cx="10058400" cy="399192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86966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4BCD-D3FF-A7CE-3138-585C8C5F9F54}"/>
              </a:ext>
            </a:extLst>
          </p:cNvPr>
          <p:cNvSpPr>
            <a:spLocks noGrp="1"/>
          </p:cNvSpPr>
          <p:nvPr>
            <p:ph type="title"/>
          </p:nvPr>
        </p:nvSpPr>
        <p:spPr>
          <a:xfrm>
            <a:off x="1097280" y="286604"/>
            <a:ext cx="10058400" cy="1134234"/>
          </a:xfrm>
        </p:spPr>
        <p:txBody>
          <a:bodyPr>
            <a:normAutofit fontScale="90000"/>
          </a:bodyPr>
          <a:lstStyle/>
          <a:p>
            <a:pPr algn="ctr"/>
            <a:r>
              <a:rPr lang="en-US" sz="2400" b="1" dirty="0">
                <a:latin typeface="Arial" panose="020B0604020202020204" pitchFamily="34" charset="0"/>
                <a:cs typeface="Arial" panose="020B0604020202020204" pitchFamily="34" charset="0"/>
              </a:rPr>
              <a:t>Loan status</a:t>
            </a:r>
            <a:br>
              <a:rPr lang="en-US" dirty="0"/>
            </a:br>
            <a:r>
              <a:rPr lang="en-US" sz="2700" dirty="0">
                <a:latin typeface="Arial" panose="020B0604020202020204" pitchFamily="34" charset="0"/>
                <a:cs typeface="Arial" panose="020B0604020202020204" pitchFamily="34" charset="0"/>
              </a:rPr>
              <a:t>Following </a:t>
            </a:r>
            <a:r>
              <a:rPr lang="en-US" sz="2700" i="1" u="sng" dirty="0">
                <a:latin typeface="Arial" panose="020B0604020202020204" pitchFamily="34" charset="0"/>
                <a:cs typeface="Arial" panose="020B0604020202020204" pitchFamily="34" charset="0"/>
              </a:rPr>
              <a:t>select query with where condition and in </a:t>
            </a:r>
            <a:r>
              <a:rPr lang="en-US" sz="2700" dirty="0">
                <a:latin typeface="Arial" panose="020B0604020202020204" pitchFamily="34" charset="0"/>
                <a:cs typeface="Arial" panose="020B0604020202020204" pitchFamily="34" charset="0"/>
              </a:rPr>
              <a:t>is use for loan status</a:t>
            </a:r>
            <a:br>
              <a:rPr lang="en-US" sz="2700" dirty="0">
                <a:latin typeface="Arial" panose="020B0604020202020204" pitchFamily="34" charset="0"/>
                <a:cs typeface="Arial" panose="020B0604020202020204" pitchFamily="34" charset="0"/>
              </a:rPr>
            </a:br>
            <a:r>
              <a:rPr lang="en-US" sz="2700" dirty="0">
                <a:latin typeface="Arial" panose="020B0604020202020204" pitchFamily="34" charset="0"/>
                <a:cs typeface="Arial" panose="020B0604020202020204" pitchFamily="34" charset="0"/>
              </a:rPr>
              <a:t>Result : It helps to know pending for disbursement</a:t>
            </a:r>
            <a:endParaRPr lang="en-IN" sz="27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257CFA81-E07E-81EB-9B95-10BBDC22B83D}"/>
              </a:ext>
            </a:extLst>
          </p:cNvPr>
          <p:cNvPicPr>
            <a:picLocks noChangeAspect="1"/>
          </p:cNvPicPr>
          <p:nvPr/>
        </p:nvPicPr>
        <p:blipFill rotWithShape="1">
          <a:blip r:embed="rId2"/>
          <a:srcRect l="10638" r="16667" b="30290"/>
          <a:stretch>
            <a:fillRect/>
          </a:stretch>
        </p:blipFill>
        <p:spPr bwMode="auto">
          <a:xfrm>
            <a:off x="1195754" y="1688123"/>
            <a:ext cx="9959926" cy="413590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40662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3F52F-DCB1-E8EC-7F1D-DC875D9A2E13}"/>
              </a:ext>
            </a:extLst>
          </p:cNvPr>
          <p:cNvSpPr>
            <a:spLocks noGrp="1"/>
          </p:cNvSpPr>
          <p:nvPr>
            <p:ph type="title"/>
          </p:nvPr>
        </p:nvSpPr>
        <p:spPr>
          <a:xfrm>
            <a:off x="1097280" y="286603"/>
            <a:ext cx="10058400" cy="1058103"/>
          </a:xfrm>
        </p:spPr>
        <p:txBody>
          <a:bodyPr>
            <a:normAutofit/>
          </a:bodyPr>
          <a:lstStyle/>
          <a:p>
            <a:pPr algn="ctr"/>
            <a:r>
              <a:rPr lang="en-US" sz="2400" b="1" dirty="0">
                <a:latin typeface="Arial" panose="020B0604020202020204" pitchFamily="34" charset="0"/>
                <a:cs typeface="Arial" panose="020B0604020202020204" pitchFamily="34" charset="0"/>
              </a:rPr>
              <a:t>Account open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select * from accounts</a:t>
            </a:r>
            <a:r>
              <a:rPr lang="en-US" sz="2400" dirty="0">
                <a:latin typeface="Arial" panose="020B0604020202020204" pitchFamily="34" charset="0"/>
                <a:cs typeface="Arial" panose="020B0604020202020204" pitchFamily="34" charset="0"/>
              </a:rPr>
              <a:t> query is use for account open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how many accounts open with balance on date</a:t>
            </a:r>
            <a:endParaRPr lang="en-IN" sz="24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11DB2BAF-A971-F164-1024-3AA7FD8D2E1F}"/>
              </a:ext>
            </a:extLst>
          </p:cNvPr>
          <p:cNvPicPr>
            <a:picLocks noChangeAspect="1"/>
          </p:cNvPicPr>
          <p:nvPr/>
        </p:nvPicPr>
        <p:blipFill rotWithShape="1">
          <a:blip r:embed="rId2"/>
          <a:srcRect l="11621" r="26138" b="25021"/>
          <a:stretch>
            <a:fillRect/>
          </a:stretch>
        </p:blipFill>
        <p:spPr bwMode="auto">
          <a:xfrm>
            <a:off x="1097280" y="1627093"/>
            <a:ext cx="10058400" cy="438374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441600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C33C7-6DEE-A065-D8C4-DAAA6721C554}"/>
              </a:ext>
            </a:extLst>
          </p:cNvPr>
          <p:cNvSpPr>
            <a:spLocks noGrp="1"/>
          </p:cNvSpPr>
          <p:nvPr>
            <p:ph type="title"/>
          </p:nvPr>
        </p:nvSpPr>
        <p:spPr>
          <a:xfrm>
            <a:off x="1097280" y="286603"/>
            <a:ext cx="10058400" cy="1286703"/>
          </a:xfrm>
        </p:spPr>
        <p:txBody>
          <a:bodyPr>
            <a:noAutofit/>
          </a:bodyPr>
          <a:lstStyle/>
          <a:p>
            <a:pPr algn="ctr"/>
            <a:r>
              <a:rPr lang="en-US" sz="2000" b="1" dirty="0">
                <a:latin typeface="Arial" panose="020B0604020202020204" pitchFamily="34" charset="0"/>
                <a:cs typeface="Arial" panose="020B0604020202020204" pitchFamily="34" charset="0"/>
              </a:rPr>
              <a:t>Loans with high interest</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Following </a:t>
            </a:r>
            <a:r>
              <a:rPr lang="en-US" sz="2000" i="1" u="sng" dirty="0">
                <a:latin typeface="Arial" panose="020B0604020202020204" pitchFamily="34" charset="0"/>
                <a:cs typeface="Arial" panose="020B0604020202020204" pitchFamily="34" charset="0"/>
              </a:rPr>
              <a:t>select query is use with where condition and greater than </a:t>
            </a:r>
            <a:r>
              <a:rPr lang="en-US" sz="2000" dirty="0">
                <a:latin typeface="Arial" panose="020B0604020202020204" pitchFamily="34" charset="0"/>
                <a:cs typeface="Arial" panose="020B0604020202020204" pitchFamily="34" charset="0"/>
              </a:rPr>
              <a:t>for loans with high rate.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Result : It helps to know how many loans disbursed with high rate which generate high return.</a:t>
            </a:r>
            <a:endParaRPr lang="en-IN" sz="2000" dirty="0"/>
          </a:p>
        </p:txBody>
      </p:sp>
      <p:pic>
        <p:nvPicPr>
          <p:cNvPr id="3" name="Picture 2">
            <a:extLst>
              <a:ext uri="{FF2B5EF4-FFF2-40B4-BE49-F238E27FC236}">
                <a16:creationId xmlns:a16="http://schemas.microsoft.com/office/drawing/2014/main" id="{3F3087B6-47AA-DE8E-7A6F-3B64F96A7360}"/>
              </a:ext>
            </a:extLst>
          </p:cNvPr>
          <p:cNvPicPr>
            <a:picLocks noChangeAspect="1"/>
          </p:cNvPicPr>
          <p:nvPr/>
        </p:nvPicPr>
        <p:blipFill rotWithShape="1">
          <a:blip r:embed="rId2"/>
          <a:srcRect l="13000" r="28892" b="31327"/>
          <a:stretch>
            <a:fillRect/>
          </a:stretch>
        </p:blipFill>
        <p:spPr bwMode="auto">
          <a:xfrm>
            <a:off x="1317813" y="1680882"/>
            <a:ext cx="9837868" cy="45451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07276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ECB68-BEF9-C61F-DE27-FC22736A2F65}"/>
              </a:ext>
            </a:extLst>
          </p:cNvPr>
          <p:cNvSpPr>
            <a:spLocks noGrp="1"/>
          </p:cNvSpPr>
          <p:nvPr>
            <p:ph type="title"/>
          </p:nvPr>
        </p:nvSpPr>
        <p:spPr/>
        <p:txBody>
          <a:bodyPr>
            <a:normAutofit/>
          </a:bodyPr>
          <a:lstStyle/>
          <a:p>
            <a:pPr algn="ctr"/>
            <a:r>
              <a:rPr lang="en-US" sz="2400" b="1" dirty="0">
                <a:latin typeface="Arial" panose="020B0604020202020204" pitchFamily="34" charset="0"/>
                <a:cs typeface="Arial" panose="020B0604020202020204" pitchFamily="34" charset="0"/>
              </a:rPr>
              <a:t>Debit, Credit card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select * from cards</a:t>
            </a:r>
            <a:r>
              <a:rPr lang="en-US" sz="2400" dirty="0">
                <a:latin typeface="Arial" panose="020B0604020202020204" pitchFamily="34" charset="0"/>
                <a:cs typeface="Arial" panose="020B0604020202020204" pitchFamily="34" charset="0"/>
              </a:rPr>
              <a:t> query is use for debit and credit card holders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contact debit card holders for credit card</a:t>
            </a:r>
            <a:endParaRPr lang="en-IN" sz="2400" dirty="0"/>
          </a:p>
        </p:txBody>
      </p:sp>
      <p:pic>
        <p:nvPicPr>
          <p:cNvPr id="4" name="Picture 3">
            <a:extLst>
              <a:ext uri="{FF2B5EF4-FFF2-40B4-BE49-F238E27FC236}">
                <a16:creationId xmlns:a16="http://schemas.microsoft.com/office/drawing/2014/main" id="{791C9FB1-7E37-C1E6-C59D-ECE232171D39}"/>
              </a:ext>
            </a:extLst>
          </p:cNvPr>
          <p:cNvPicPr>
            <a:picLocks noChangeAspect="1"/>
          </p:cNvPicPr>
          <p:nvPr/>
        </p:nvPicPr>
        <p:blipFill rotWithShape="1">
          <a:blip r:embed="rId2"/>
          <a:srcRect l="11621" r="28108" b="28875"/>
          <a:stretch>
            <a:fillRect/>
          </a:stretch>
        </p:blipFill>
        <p:spPr bwMode="auto">
          <a:xfrm>
            <a:off x="1250577" y="1737360"/>
            <a:ext cx="9905104" cy="446173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92616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3B712-3C94-84C6-7AA8-3256E70B8370}"/>
              </a:ext>
            </a:extLst>
          </p:cNvPr>
          <p:cNvSpPr>
            <a:spLocks noGrp="1"/>
          </p:cNvSpPr>
          <p:nvPr>
            <p:ph type="title"/>
          </p:nvPr>
        </p:nvSpPr>
        <p:spPr>
          <a:xfrm>
            <a:off x="1097280" y="286603"/>
            <a:ext cx="10058400" cy="1111891"/>
          </a:xfrm>
        </p:spPr>
        <p:txBody>
          <a:bodyPr>
            <a:normAutofit/>
          </a:bodyPr>
          <a:lstStyle/>
          <a:p>
            <a:pPr algn="ctr"/>
            <a:r>
              <a:rPr lang="en-US" sz="2400" b="1" dirty="0">
                <a:latin typeface="Arial" panose="020B0604020202020204" pitchFamily="34" charset="0"/>
                <a:cs typeface="Arial" panose="020B0604020202020204" pitchFamily="34" charset="0"/>
              </a:rPr>
              <a:t>Account Balance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left join </a:t>
            </a:r>
            <a:r>
              <a:rPr lang="en-US" sz="2400" dirty="0">
                <a:latin typeface="Arial" panose="020B0604020202020204" pitchFamily="34" charset="0"/>
                <a:cs typeface="Arial" panose="020B0604020202020204" pitchFamily="34" charset="0"/>
              </a:rPr>
              <a:t>query is use for accounts with big balance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HNI</a:t>
            </a:r>
            <a:r>
              <a:rPr lang="en-US" sz="2400" b="1" dirty="0">
                <a:latin typeface="Arial" panose="020B0604020202020204" pitchFamily="34" charset="0"/>
                <a:cs typeface="Arial" panose="020B0604020202020204" pitchFamily="34" charset="0"/>
              </a:rPr>
              <a:t>(</a:t>
            </a:r>
            <a:r>
              <a:rPr lang="en-IN" sz="2400" b="1" dirty="0"/>
              <a:t>High Net-Worth Individual)</a:t>
            </a:r>
            <a:r>
              <a:rPr lang="en-IN" sz="2400" dirty="0">
                <a:latin typeface="Arial" panose="020B0604020202020204" pitchFamily="34" charset="0"/>
                <a:cs typeface="Arial" panose="020B0604020202020204" pitchFamily="34" charset="0"/>
              </a:rPr>
              <a:t> for best service</a:t>
            </a:r>
          </a:p>
        </p:txBody>
      </p:sp>
      <p:pic>
        <p:nvPicPr>
          <p:cNvPr id="3" name="Picture 2">
            <a:extLst>
              <a:ext uri="{FF2B5EF4-FFF2-40B4-BE49-F238E27FC236}">
                <a16:creationId xmlns:a16="http://schemas.microsoft.com/office/drawing/2014/main" id="{E57D56DF-3D4D-CD4C-BAAC-FFF7E1B73BBE}"/>
              </a:ext>
            </a:extLst>
          </p:cNvPr>
          <p:cNvPicPr>
            <a:picLocks noChangeAspect="1"/>
          </p:cNvPicPr>
          <p:nvPr/>
        </p:nvPicPr>
        <p:blipFill rotWithShape="1">
          <a:blip r:embed="rId2"/>
          <a:srcRect l="11425" r="27511" b="32742"/>
          <a:stretch>
            <a:fillRect/>
          </a:stretch>
        </p:blipFill>
        <p:spPr bwMode="auto">
          <a:xfrm>
            <a:off x="1097280" y="1640541"/>
            <a:ext cx="10058399" cy="459889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2277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A0A7-E045-9D20-2F8A-F36AC76460A3}"/>
              </a:ext>
            </a:extLst>
          </p:cNvPr>
          <p:cNvSpPr>
            <a:spLocks noGrp="1"/>
          </p:cNvSpPr>
          <p:nvPr>
            <p:ph type="title"/>
          </p:nvPr>
        </p:nvSpPr>
        <p:spPr>
          <a:xfrm>
            <a:off x="1097280" y="286604"/>
            <a:ext cx="10058400" cy="1098444"/>
          </a:xfrm>
        </p:spPr>
        <p:txBody>
          <a:bodyPr>
            <a:normAutofit/>
          </a:bodyPr>
          <a:lstStyle/>
          <a:p>
            <a:pPr algn="ctr"/>
            <a:r>
              <a:rPr lang="en-US" sz="2400" b="1" dirty="0">
                <a:latin typeface="Arial" panose="020B0604020202020204" pitchFamily="34" charset="0"/>
                <a:cs typeface="Arial" panose="020B0604020202020204" pitchFamily="34" charset="0"/>
              </a:rPr>
              <a:t>Loan Amounts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left join </a:t>
            </a:r>
            <a:r>
              <a:rPr lang="en-US" sz="2400" dirty="0">
                <a:latin typeface="Arial" panose="020B0604020202020204" pitchFamily="34" charset="0"/>
                <a:cs typeface="Arial" panose="020B0604020202020204" pitchFamily="34" charset="0"/>
              </a:rPr>
              <a:t>query is use for loans with big disbursement.</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for more business in future</a:t>
            </a:r>
            <a:endParaRPr lang="en-IN" sz="24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006B49F9-4D21-7968-3053-BB8C4368B798}"/>
              </a:ext>
            </a:extLst>
          </p:cNvPr>
          <p:cNvPicPr>
            <a:picLocks noChangeAspect="1"/>
          </p:cNvPicPr>
          <p:nvPr/>
        </p:nvPicPr>
        <p:blipFill rotWithShape="1">
          <a:blip r:embed="rId2"/>
          <a:srcRect l="9457" r="23364" b="33443"/>
          <a:stretch>
            <a:fillRect/>
          </a:stretch>
        </p:blipFill>
        <p:spPr bwMode="auto">
          <a:xfrm>
            <a:off x="1097280" y="1737361"/>
            <a:ext cx="10058400" cy="411211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18908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C6273-571C-B8B7-3B46-F3D6254984C0}"/>
              </a:ext>
            </a:extLst>
          </p:cNvPr>
          <p:cNvSpPr>
            <a:spLocks noGrp="1"/>
          </p:cNvSpPr>
          <p:nvPr>
            <p:ph type="title"/>
          </p:nvPr>
        </p:nvSpPr>
        <p:spPr>
          <a:xfrm>
            <a:off x="1066800" y="268941"/>
            <a:ext cx="10058400" cy="1653987"/>
          </a:xfrm>
        </p:spPr>
        <p:txBody>
          <a:bodyPr>
            <a:normAutofit fontScale="90000"/>
          </a:bodyPr>
          <a:lstStyle/>
          <a:p>
            <a:pPr algn="ctr"/>
            <a:r>
              <a:rPr lang="en-US" sz="2700" b="1" dirty="0">
                <a:latin typeface="Arial" panose="020B0604020202020204" pitchFamily="34" charset="0"/>
                <a:cs typeface="Arial" panose="020B0604020202020204" pitchFamily="34" charset="0"/>
              </a:rPr>
              <a:t>Debit card status</a:t>
            </a:r>
            <a:br>
              <a:rPr lang="en-US" sz="2700" dirty="0">
                <a:latin typeface="Arial" panose="020B0604020202020204" pitchFamily="34" charset="0"/>
                <a:cs typeface="Arial" panose="020B0604020202020204" pitchFamily="34" charset="0"/>
              </a:rPr>
            </a:br>
            <a:r>
              <a:rPr lang="en-US" sz="2700" dirty="0">
                <a:latin typeface="Arial" panose="020B0604020202020204" pitchFamily="34" charset="0"/>
                <a:cs typeface="Arial" panose="020B0604020202020204" pitchFamily="34" charset="0"/>
              </a:rPr>
              <a:t>Following </a:t>
            </a:r>
            <a:r>
              <a:rPr lang="en-US" sz="2700" i="1" u="sng" dirty="0">
                <a:latin typeface="Arial" panose="020B0604020202020204" pitchFamily="34" charset="0"/>
                <a:cs typeface="Arial" panose="020B0604020202020204" pitchFamily="34" charset="0"/>
              </a:rPr>
              <a:t>left join </a:t>
            </a:r>
            <a:r>
              <a:rPr lang="en-US" sz="2700" dirty="0">
                <a:latin typeface="Arial" panose="020B0604020202020204" pitchFamily="34" charset="0"/>
                <a:cs typeface="Arial" panose="020B0604020202020204" pitchFamily="34" charset="0"/>
              </a:rPr>
              <a:t>query is use for debit card holders.</a:t>
            </a:r>
            <a:br>
              <a:rPr lang="en-US" sz="2700" dirty="0">
                <a:latin typeface="Arial" panose="020B0604020202020204" pitchFamily="34" charset="0"/>
                <a:cs typeface="Arial" panose="020B0604020202020204" pitchFamily="34" charset="0"/>
              </a:rPr>
            </a:br>
            <a:r>
              <a:rPr lang="en-US" sz="2700" dirty="0">
                <a:latin typeface="Arial" panose="020B0604020202020204" pitchFamily="34" charset="0"/>
                <a:cs typeface="Arial" panose="020B0604020202020204" pitchFamily="34" charset="0"/>
              </a:rPr>
              <a:t>Result : It helps to know of debit card holders for future reference.</a:t>
            </a:r>
            <a:br>
              <a:rPr lang="en-US" dirty="0"/>
            </a:br>
            <a:endParaRPr lang="en-IN" dirty="0"/>
          </a:p>
        </p:txBody>
      </p:sp>
      <p:pic>
        <p:nvPicPr>
          <p:cNvPr id="3" name="Picture 2">
            <a:extLst>
              <a:ext uri="{FF2B5EF4-FFF2-40B4-BE49-F238E27FC236}">
                <a16:creationId xmlns:a16="http://schemas.microsoft.com/office/drawing/2014/main" id="{138B7E7C-B2F6-E73B-34F1-71187844C59F}"/>
              </a:ext>
            </a:extLst>
          </p:cNvPr>
          <p:cNvPicPr>
            <a:picLocks noChangeAspect="1"/>
          </p:cNvPicPr>
          <p:nvPr/>
        </p:nvPicPr>
        <p:blipFill rotWithShape="1">
          <a:blip r:embed="rId2"/>
          <a:srcRect l="11818" r="26924" b="27823"/>
          <a:stretch>
            <a:fillRect/>
          </a:stretch>
        </p:blipFill>
        <p:spPr bwMode="auto">
          <a:xfrm>
            <a:off x="1169894" y="1532965"/>
            <a:ext cx="9955306" cy="393998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97377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7B08-1D06-C3FB-BD48-8C842EAE8B24}"/>
              </a:ext>
            </a:extLst>
          </p:cNvPr>
          <p:cNvSpPr>
            <a:spLocks noGrp="1"/>
          </p:cNvSpPr>
          <p:nvPr>
            <p:ph type="title"/>
          </p:nvPr>
        </p:nvSpPr>
        <p:spPr>
          <a:xfrm>
            <a:off x="1097280" y="286603"/>
            <a:ext cx="10058400" cy="1165679"/>
          </a:xfrm>
        </p:spPr>
        <p:txBody>
          <a:bodyPr>
            <a:normAutofit/>
          </a:bodyPr>
          <a:lstStyle/>
          <a:p>
            <a:pPr algn="ctr"/>
            <a:r>
              <a:rPr lang="en-US" sz="2400" b="1" dirty="0">
                <a:latin typeface="Arial" panose="020B0604020202020204" pitchFamily="34" charset="0"/>
                <a:cs typeface="Arial" panose="020B0604020202020204" pitchFamily="34" charset="0"/>
              </a:rPr>
              <a:t>Transaction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left join </a:t>
            </a:r>
            <a:r>
              <a:rPr lang="en-US" sz="2400" dirty="0">
                <a:latin typeface="Arial" panose="020B0604020202020204" pitchFamily="34" charset="0"/>
                <a:cs typeface="Arial" panose="020B0604020202020204" pitchFamily="34" charset="0"/>
              </a:rPr>
              <a:t>query is use for cash transaction.</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convincing for digital transaction</a:t>
            </a:r>
            <a:endParaRPr lang="en-IN" sz="24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46EDD84F-A461-42FD-9299-894FFCF10C32}"/>
              </a:ext>
            </a:extLst>
          </p:cNvPr>
          <p:cNvPicPr>
            <a:picLocks noChangeAspect="1"/>
          </p:cNvPicPr>
          <p:nvPr/>
        </p:nvPicPr>
        <p:blipFill rotWithShape="1">
          <a:blip r:embed="rId2"/>
          <a:srcRect l="13590" r="31258" b="36933"/>
          <a:stretch>
            <a:fillRect/>
          </a:stretch>
        </p:blipFill>
        <p:spPr bwMode="auto">
          <a:xfrm>
            <a:off x="1097280" y="1613647"/>
            <a:ext cx="10058400" cy="387275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36871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7AB8B-99CA-2039-D56E-5210371AD130}"/>
              </a:ext>
            </a:extLst>
          </p:cNvPr>
          <p:cNvSpPr>
            <a:spLocks noGrp="1"/>
          </p:cNvSpPr>
          <p:nvPr>
            <p:ph type="title"/>
          </p:nvPr>
        </p:nvSpPr>
        <p:spPr>
          <a:xfrm>
            <a:off x="1097280" y="286603"/>
            <a:ext cx="10058400" cy="1232915"/>
          </a:xfrm>
        </p:spPr>
        <p:txBody>
          <a:bodyPr>
            <a:normAutofit/>
          </a:bodyPr>
          <a:lstStyle/>
          <a:p>
            <a:pPr algn="ctr"/>
            <a:r>
              <a:rPr lang="en-US" sz="2700" b="1" dirty="0">
                <a:latin typeface="Arial" panose="020B0604020202020204" pitchFamily="34" charset="0"/>
                <a:cs typeface="Arial" panose="020B0604020202020204" pitchFamily="34" charset="0"/>
              </a:rPr>
              <a:t>Sanction status</a:t>
            </a:r>
            <a:br>
              <a:rPr lang="en-US" sz="2700" dirty="0">
                <a:latin typeface="Arial" panose="020B0604020202020204" pitchFamily="34" charset="0"/>
                <a:cs typeface="Arial" panose="020B0604020202020204" pitchFamily="34" charset="0"/>
              </a:rPr>
            </a:br>
            <a:r>
              <a:rPr lang="en-US" sz="2700" dirty="0">
                <a:latin typeface="Arial" panose="020B0604020202020204" pitchFamily="34" charset="0"/>
                <a:cs typeface="Arial" panose="020B0604020202020204" pitchFamily="34" charset="0"/>
              </a:rPr>
              <a:t>Following </a:t>
            </a:r>
            <a:r>
              <a:rPr lang="en-US" sz="2700" i="1" u="sng" dirty="0">
                <a:latin typeface="Arial" panose="020B0604020202020204" pitchFamily="34" charset="0"/>
                <a:cs typeface="Arial" panose="020B0604020202020204" pitchFamily="34" charset="0"/>
              </a:rPr>
              <a:t>left join </a:t>
            </a:r>
            <a:r>
              <a:rPr lang="en-US" sz="2700" dirty="0">
                <a:latin typeface="Arial" panose="020B0604020202020204" pitchFamily="34" charset="0"/>
                <a:cs typeface="Arial" panose="020B0604020202020204" pitchFamily="34" charset="0"/>
              </a:rPr>
              <a:t>query is use for sanction status.</a:t>
            </a:r>
            <a:br>
              <a:rPr lang="en-US" sz="2700" dirty="0">
                <a:latin typeface="Arial" panose="020B0604020202020204" pitchFamily="34" charset="0"/>
                <a:cs typeface="Arial" panose="020B0604020202020204" pitchFamily="34" charset="0"/>
              </a:rPr>
            </a:br>
            <a:r>
              <a:rPr lang="en-US" sz="2700" dirty="0">
                <a:latin typeface="Arial" panose="020B0604020202020204" pitchFamily="34" charset="0"/>
                <a:cs typeface="Arial" panose="020B0604020202020204" pitchFamily="34" charset="0"/>
              </a:rPr>
              <a:t>Result : It helps to know to convert sanction to disburse.</a:t>
            </a:r>
            <a:endParaRPr lang="en-IN" dirty="0"/>
          </a:p>
        </p:txBody>
      </p:sp>
      <p:pic>
        <p:nvPicPr>
          <p:cNvPr id="3" name="Picture 2">
            <a:extLst>
              <a:ext uri="{FF2B5EF4-FFF2-40B4-BE49-F238E27FC236}">
                <a16:creationId xmlns:a16="http://schemas.microsoft.com/office/drawing/2014/main" id="{BF96EE68-C046-0944-2C01-08128CADA5FF}"/>
              </a:ext>
            </a:extLst>
          </p:cNvPr>
          <p:cNvPicPr>
            <a:picLocks noChangeAspect="1"/>
          </p:cNvPicPr>
          <p:nvPr/>
        </p:nvPicPr>
        <p:blipFill rotWithShape="1">
          <a:blip r:embed="rId2"/>
          <a:srcRect l="11818" t="-1401" r="31062" b="27813"/>
          <a:stretch>
            <a:fillRect/>
          </a:stretch>
        </p:blipFill>
        <p:spPr bwMode="auto">
          <a:xfrm>
            <a:off x="1097280" y="1613648"/>
            <a:ext cx="10058399" cy="430305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77660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B7D6-159E-CB3A-AD23-F8B55B967B92}"/>
              </a:ext>
            </a:extLst>
          </p:cNvPr>
          <p:cNvSpPr>
            <a:spLocks noGrp="1"/>
          </p:cNvSpPr>
          <p:nvPr>
            <p:ph type="title"/>
          </p:nvPr>
        </p:nvSpPr>
        <p:spPr>
          <a:xfrm>
            <a:off x="1097280" y="286603"/>
            <a:ext cx="10058400" cy="1300150"/>
          </a:xfrm>
        </p:spPr>
        <p:txBody>
          <a:bodyPr>
            <a:normAutofit fontScale="90000"/>
          </a:bodyPr>
          <a:lstStyle/>
          <a:p>
            <a:pPr algn="ctr"/>
            <a:r>
              <a:rPr lang="en-US" sz="2400" b="1" dirty="0">
                <a:latin typeface="Arial" panose="020B0604020202020204" pitchFamily="34" charset="0"/>
                <a:cs typeface="Arial" panose="020B0604020202020204" pitchFamily="34" charset="0"/>
              </a:rPr>
              <a:t>UPI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u="sng" dirty="0">
                <a:latin typeface="Arial" panose="020B0604020202020204" pitchFamily="34" charset="0"/>
                <a:cs typeface="Arial" panose="020B0604020202020204" pitchFamily="34" charset="0"/>
              </a:rPr>
              <a:t>Windows sum query with partition by </a:t>
            </a:r>
            <a:r>
              <a:rPr lang="en-US" sz="2400" dirty="0">
                <a:latin typeface="Arial" panose="020B0604020202020204" pitchFamily="34" charset="0"/>
                <a:cs typeface="Arial" panose="020B0604020202020204" pitchFamily="34" charset="0"/>
              </a:rPr>
              <a:t>is use for </a:t>
            </a:r>
            <a:r>
              <a:rPr lang="en-US" sz="2400" dirty="0" err="1">
                <a:latin typeface="Arial" panose="020B0604020202020204" pitchFamily="34" charset="0"/>
                <a:cs typeface="Arial" panose="020B0604020202020204" pitchFamily="34" charset="0"/>
              </a:rPr>
              <a:t>upi</a:t>
            </a:r>
            <a:r>
              <a:rPr lang="en-US" sz="2400" dirty="0">
                <a:latin typeface="Arial" panose="020B0604020202020204" pitchFamily="34" charset="0"/>
                <a:cs typeface="Arial" panose="020B0604020202020204" pitchFamily="34" charset="0"/>
              </a:rPr>
              <a:t>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running total of </a:t>
            </a:r>
            <a:r>
              <a:rPr lang="en-US" sz="2400" dirty="0" err="1">
                <a:latin typeface="Arial" panose="020B0604020202020204" pitchFamily="34" charset="0"/>
                <a:cs typeface="Arial" panose="020B0604020202020204" pitchFamily="34" charset="0"/>
              </a:rPr>
              <a:t>upi</a:t>
            </a:r>
            <a:r>
              <a:rPr lang="en-US" sz="2400" dirty="0">
                <a:latin typeface="Arial" panose="020B0604020202020204" pitchFamily="34" charset="0"/>
                <a:cs typeface="Arial" panose="020B0604020202020204" pitchFamily="34" charset="0"/>
              </a:rPr>
              <a:t> and cash transaction to convert cash to </a:t>
            </a:r>
            <a:r>
              <a:rPr lang="en-US" sz="2400" dirty="0" err="1">
                <a:latin typeface="Arial" panose="020B0604020202020204" pitchFamily="34" charset="0"/>
                <a:cs typeface="Arial" panose="020B0604020202020204" pitchFamily="34" charset="0"/>
              </a:rPr>
              <a:t>upi</a:t>
            </a:r>
            <a:r>
              <a:rPr lang="en-US" sz="2400" dirty="0">
                <a:latin typeface="Arial" panose="020B0604020202020204" pitchFamily="34" charset="0"/>
                <a:cs typeface="Arial" panose="020B0604020202020204" pitchFamily="34" charset="0"/>
              </a:rPr>
              <a:t>.</a:t>
            </a:r>
            <a:endParaRPr lang="en-IN" sz="2400" dirty="0"/>
          </a:p>
        </p:txBody>
      </p:sp>
      <p:pic>
        <p:nvPicPr>
          <p:cNvPr id="3" name="Picture 2">
            <a:extLst>
              <a:ext uri="{FF2B5EF4-FFF2-40B4-BE49-F238E27FC236}">
                <a16:creationId xmlns:a16="http://schemas.microsoft.com/office/drawing/2014/main" id="{C064F051-9FED-877F-B79D-B0B6CE017614}"/>
              </a:ext>
            </a:extLst>
          </p:cNvPr>
          <p:cNvPicPr>
            <a:picLocks noChangeAspect="1"/>
          </p:cNvPicPr>
          <p:nvPr/>
        </p:nvPicPr>
        <p:blipFill rotWithShape="1">
          <a:blip r:embed="rId2"/>
          <a:srcRect l="12606" r="16880" b="14509"/>
          <a:stretch>
            <a:fillRect/>
          </a:stretch>
        </p:blipFill>
        <p:spPr bwMode="auto">
          <a:xfrm>
            <a:off x="1097281" y="1737360"/>
            <a:ext cx="10058400" cy="442139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93570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442D2-33CE-738A-7EA4-FA0ACC863C2D}"/>
              </a:ext>
            </a:extLst>
          </p:cNvPr>
          <p:cNvSpPr>
            <a:spLocks noGrp="1"/>
          </p:cNvSpPr>
          <p:nvPr>
            <p:ph type="title"/>
          </p:nvPr>
        </p:nvSpPr>
        <p:spPr/>
        <p:txBody>
          <a:bodyPr>
            <a:normAutofit/>
          </a:bodyPr>
          <a:lstStyle/>
          <a:p>
            <a:r>
              <a:rPr lang="en-US" sz="2400" b="1" dirty="0">
                <a:latin typeface="Arial" panose="020B0604020202020204" pitchFamily="34" charset="0"/>
                <a:cs typeface="Arial" panose="020B0604020202020204" pitchFamily="34" charset="0"/>
              </a:rPr>
              <a:t>HIGH balance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u="sng" dirty="0">
                <a:latin typeface="Arial" panose="020B0604020202020204" pitchFamily="34" charset="0"/>
                <a:cs typeface="Arial" panose="020B0604020202020204" pitchFamily="34" charset="0"/>
              </a:rPr>
              <a:t>Windows rank query with partition by </a:t>
            </a:r>
            <a:r>
              <a:rPr lang="en-US" sz="2400" dirty="0">
                <a:latin typeface="Arial" panose="020B0604020202020204" pitchFamily="34" charset="0"/>
                <a:cs typeface="Arial" panose="020B0604020202020204" pitchFamily="34" charset="0"/>
              </a:rPr>
              <a:t>is use for balance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highest balance among all account but result shows 1 as only one transaction entry per account.</a:t>
            </a:r>
            <a:endParaRPr lang="en-IN" sz="2400" dirty="0"/>
          </a:p>
        </p:txBody>
      </p:sp>
      <p:pic>
        <p:nvPicPr>
          <p:cNvPr id="3" name="Picture 2">
            <a:extLst>
              <a:ext uri="{FF2B5EF4-FFF2-40B4-BE49-F238E27FC236}">
                <a16:creationId xmlns:a16="http://schemas.microsoft.com/office/drawing/2014/main" id="{9F073D41-F0DC-16A3-0CFC-31C691ADA991}"/>
              </a:ext>
            </a:extLst>
          </p:cNvPr>
          <p:cNvPicPr>
            <a:picLocks noChangeAspect="1"/>
          </p:cNvPicPr>
          <p:nvPr/>
        </p:nvPicPr>
        <p:blipFill rotWithShape="1">
          <a:blip r:embed="rId2"/>
          <a:srcRect l="13248" r="29404" b="9604"/>
          <a:stretch>
            <a:fillRect/>
          </a:stretch>
        </p:blipFill>
        <p:spPr bwMode="auto">
          <a:xfrm>
            <a:off x="1097280" y="1737360"/>
            <a:ext cx="10058400" cy="399108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96390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4E0A-7B07-DA98-B3FA-D9940A08F03E}"/>
              </a:ext>
            </a:extLst>
          </p:cNvPr>
          <p:cNvSpPr>
            <a:spLocks noGrp="1"/>
          </p:cNvSpPr>
          <p:nvPr>
            <p:ph type="title"/>
          </p:nvPr>
        </p:nvSpPr>
        <p:spPr/>
        <p:txBody>
          <a:bodyPr>
            <a:normAutofit/>
          </a:bodyPr>
          <a:lstStyle/>
          <a:p>
            <a:pPr algn="ctr"/>
            <a:r>
              <a:rPr lang="en-US" sz="2400" b="1" dirty="0">
                <a:latin typeface="Arial" panose="020B0604020202020204" pitchFamily="34" charset="0"/>
                <a:cs typeface="Arial" panose="020B0604020202020204" pitchFamily="34" charset="0"/>
              </a:rPr>
              <a:t>Average balance status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Multirow subquery </a:t>
            </a:r>
            <a:r>
              <a:rPr lang="en-US" sz="2400" dirty="0">
                <a:latin typeface="Arial" panose="020B0604020202020204" pitchFamily="34" charset="0"/>
                <a:cs typeface="Arial" panose="020B0604020202020204" pitchFamily="34" charset="0"/>
              </a:rPr>
              <a:t>is use for average balance.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accounts maintaining high balance than average balance.</a:t>
            </a:r>
            <a:endParaRPr lang="en-IN" sz="2400" dirty="0"/>
          </a:p>
        </p:txBody>
      </p:sp>
      <p:pic>
        <p:nvPicPr>
          <p:cNvPr id="3" name="Picture 2">
            <a:extLst>
              <a:ext uri="{FF2B5EF4-FFF2-40B4-BE49-F238E27FC236}">
                <a16:creationId xmlns:a16="http://schemas.microsoft.com/office/drawing/2014/main" id="{CD152E32-A0E6-F215-156F-D74988505C5F}"/>
              </a:ext>
            </a:extLst>
          </p:cNvPr>
          <p:cNvPicPr>
            <a:picLocks noChangeAspect="1"/>
          </p:cNvPicPr>
          <p:nvPr/>
        </p:nvPicPr>
        <p:blipFill rotWithShape="1">
          <a:blip r:embed="rId2"/>
          <a:srcRect l="12015" r="32044" b="25017"/>
          <a:stretch>
            <a:fillRect/>
          </a:stretch>
        </p:blipFill>
        <p:spPr bwMode="auto">
          <a:xfrm>
            <a:off x="1196788" y="1737359"/>
            <a:ext cx="9958892" cy="40448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63319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65649-4A29-8249-7FF3-6624601F345A}"/>
              </a:ext>
            </a:extLst>
          </p:cNvPr>
          <p:cNvSpPr>
            <a:spLocks noGrp="1"/>
          </p:cNvSpPr>
          <p:nvPr>
            <p:ph type="title"/>
          </p:nvPr>
        </p:nvSpPr>
        <p:spPr>
          <a:xfrm>
            <a:off x="1097280" y="286604"/>
            <a:ext cx="10058400" cy="1125338"/>
          </a:xfrm>
        </p:spPr>
        <p:txBody>
          <a:bodyPr>
            <a:normAutofit/>
          </a:bodyPr>
          <a:lstStyle/>
          <a:p>
            <a:pPr algn="ctr"/>
            <a:r>
              <a:rPr lang="en-US" sz="2400" b="1" dirty="0">
                <a:latin typeface="Arial" panose="020B0604020202020204" pitchFamily="34" charset="0"/>
                <a:cs typeface="Arial" panose="020B0604020202020204" pitchFamily="34" charset="0"/>
              </a:rPr>
              <a:t>Disbursed data</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scalar or single row subquery </a:t>
            </a:r>
            <a:r>
              <a:rPr lang="en-US" sz="2400" dirty="0">
                <a:latin typeface="Arial" panose="020B0604020202020204" pitchFamily="34" charset="0"/>
                <a:cs typeface="Arial" panose="020B0604020202020204" pitchFamily="34" charset="0"/>
              </a:rPr>
              <a:t>is use for disburse amount.</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amount of disbursement.</a:t>
            </a:r>
            <a:endParaRPr lang="en-IN" sz="2400" dirty="0"/>
          </a:p>
        </p:txBody>
      </p:sp>
      <p:pic>
        <p:nvPicPr>
          <p:cNvPr id="3" name="Picture 2">
            <a:extLst>
              <a:ext uri="{FF2B5EF4-FFF2-40B4-BE49-F238E27FC236}">
                <a16:creationId xmlns:a16="http://schemas.microsoft.com/office/drawing/2014/main" id="{A8582869-7B9D-2DEC-96B4-9D3B3D5CE8EA}"/>
              </a:ext>
            </a:extLst>
          </p:cNvPr>
          <p:cNvPicPr>
            <a:picLocks noChangeAspect="1"/>
          </p:cNvPicPr>
          <p:nvPr/>
        </p:nvPicPr>
        <p:blipFill rotWithShape="1">
          <a:blip r:embed="rId2"/>
          <a:srcRect l="12804" t="4905" r="14899" b="26435"/>
          <a:stretch>
            <a:fillRect/>
          </a:stretch>
        </p:blipFill>
        <p:spPr bwMode="auto">
          <a:xfrm>
            <a:off x="1097280" y="1737361"/>
            <a:ext cx="10058400" cy="424658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67986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0AD4C-1F50-5760-7887-1E5F4DB08BBB}"/>
              </a:ext>
            </a:extLst>
          </p:cNvPr>
          <p:cNvSpPr>
            <a:spLocks noGrp="1"/>
          </p:cNvSpPr>
          <p:nvPr>
            <p:ph type="title"/>
          </p:nvPr>
        </p:nvSpPr>
        <p:spPr/>
        <p:txBody>
          <a:bodyPr>
            <a:normAutofit/>
          </a:bodyPr>
          <a:lstStyle/>
          <a:p>
            <a:r>
              <a:rPr lang="en-US" sz="2400" b="1" dirty="0">
                <a:latin typeface="Arial" panose="020B0604020202020204" pitchFamily="34" charset="0"/>
                <a:cs typeface="Arial" panose="020B0604020202020204" pitchFamily="34" charset="0"/>
              </a:rPr>
              <a:t>Average Disbursement</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Following </a:t>
            </a:r>
            <a:r>
              <a:rPr lang="en-US" sz="2400" i="1" u="sng" dirty="0">
                <a:latin typeface="Arial" panose="020B0604020202020204" pitchFamily="34" charset="0"/>
                <a:cs typeface="Arial" panose="020B0604020202020204" pitchFamily="34" charset="0"/>
              </a:rPr>
              <a:t>correlated subquery </a:t>
            </a:r>
            <a:r>
              <a:rPr lang="en-US" sz="2400" dirty="0">
                <a:latin typeface="Arial" panose="020B0604020202020204" pitchFamily="34" charset="0"/>
                <a:cs typeface="Arial" panose="020B0604020202020204" pitchFamily="34" charset="0"/>
              </a:rPr>
              <a:t>is use for average disburse amount.</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Result : It helps to know customers who’s disbursement is more thane average.</a:t>
            </a:r>
            <a:endParaRPr lang="en-IN" sz="2400" dirty="0"/>
          </a:p>
        </p:txBody>
      </p:sp>
      <p:pic>
        <p:nvPicPr>
          <p:cNvPr id="3" name="Picture 2">
            <a:extLst>
              <a:ext uri="{FF2B5EF4-FFF2-40B4-BE49-F238E27FC236}">
                <a16:creationId xmlns:a16="http://schemas.microsoft.com/office/drawing/2014/main" id="{F1535022-B1C0-7A94-6238-AE6F1B2CC4D4}"/>
              </a:ext>
            </a:extLst>
          </p:cNvPr>
          <p:cNvPicPr>
            <a:picLocks noChangeAspect="1"/>
          </p:cNvPicPr>
          <p:nvPr/>
        </p:nvPicPr>
        <p:blipFill rotWithShape="1">
          <a:blip r:embed="rId2"/>
          <a:srcRect l="12015" r="8407" b="16612"/>
          <a:stretch>
            <a:fillRect/>
          </a:stretch>
        </p:blipFill>
        <p:spPr bwMode="auto">
          <a:xfrm>
            <a:off x="1097280" y="1737360"/>
            <a:ext cx="10058400" cy="376107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24650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EBD51-F4ED-C9A4-67E2-D3FF6294B305}"/>
              </a:ext>
            </a:extLst>
          </p:cNvPr>
          <p:cNvSpPr>
            <a:spLocks noGrp="1"/>
          </p:cNvSpPr>
          <p:nvPr>
            <p:ph type="title"/>
          </p:nvPr>
        </p:nvSpPr>
        <p:spPr>
          <a:xfrm>
            <a:off x="1097280" y="286603"/>
            <a:ext cx="10058400" cy="675923"/>
          </a:xfrm>
        </p:spPr>
        <p:txBody>
          <a:bodyPr>
            <a:normAutofit/>
          </a:bodyPr>
          <a:lstStyle/>
          <a:p>
            <a:pPr algn="ctr"/>
            <a:r>
              <a:rPr lang="en-US" sz="3200" b="1" u="sng" dirty="0">
                <a:latin typeface="Arial" panose="020B0604020202020204" pitchFamily="34" charset="0"/>
                <a:cs typeface="Arial" panose="020B0604020202020204" pitchFamily="34" charset="0"/>
              </a:rPr>
              <a:t>Conclusion</a:t>
            </a:r>
            <a:endParaRPr lang="en-IN" sz="3200" b="1" u="sng"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5978F8EE-4B16-4E7C-7CEC-32A20ED9BBC0}"/>
              </a:ext>
            </a:extLst>
          </p:cNvPr>
          <p:cNvSpPr txBox="1"/>
          <p:nvPr/>
        </p:nvSpPr>
        <p:spPr>
          <a:xfrm>
            <a:off x="1097281" y="1744630"/>
            <a:ext cx="10058399" cy="3785652"/>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project highlights the vital role of SQL in bankin</a:t>
            </a:r>
            <a:r>
              <a:rPr lang="en-US" altLang="en-US" sz="2000" dirty="0">
                <a:latin typeface="Arial" panose="020B0604020202020204" pitchFamily="34" charset="0"/>
                <a:cs typeface="Arial" panose="020B0604020202020204" pitchFamily="34" charset="0"/>
              </a:rPr>
              <a:t>g system.</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It starts with an overview of digital banking importance, then explores key SQL concepts in detail.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Joins, subqueries, and queries are used extensively to improve disbursements, convert cash to </a:t>
            </a:r>
            <a:r>
              <a:rPr kumimoji="0" lang="en-US" altLang="en-US" sz="20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upi</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marketing for more loans and deposits and enhance reporting capabilities.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Practical case studies demonstrate how these SQL techniques help to increase digital banking , cut costs, and boost operational efficiency in banking industry.</a:t>
            </a:r>
          </a:p>
          <a:p>
            <a:pPr marL="285750" lvl="0" indent="-285750" defTabSz="914400" eaLnBrk="0" fontAlgn="base" hangingPunct="0">
              <a:spcBef>
                <a:spcPct val="0"/>
              </a:spcBef>
              <a:spcAft>
                <a:spcPct val="0"/>
              </a:spcAft>
              <a:buFont typeface="Wingdings" panose="05000000000000000000" pitchFamily="2" charset="2"/>
              <a:buChar char="§"/>
            </a:pPr>
            <a:r>
              <a:rPr lang="en-US" sz="2000" dirty="0">
                <a:latin typeface="Arial" panose="020B0604020202020204" pitchFamily="34" charset="0"/>
                <a:cs typeface="Arial" panose="020B0604020202020204" pitchFamily="34" charset="0"/>
              </a:rPr>
              <a:t>Digital banking provides customers with 24/7 access to services from anywhere, offering superior convenience, speed, and security over traditional banking</a:t>
            </a:r>
            <a:endPar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project emphasizes that a well-designed system using advanced SQL techniques is crucial for data-driven decision-making and successful digital banking.</a:t>
            </a:r>
          </a:p>
        </p:txBody>
      </p:sp>
    </p:spTree>
    <p:extLst>
      <p:ext uri="{BB962C8B-B14F-4D97-AF65-F5344CB8AC3E}">
        <p14:creationId xmlns:p14="http://schemas.microsoft.com/office/powerpoint/2010/main" val="990815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AF9DFF-E430-E1ED-B600-2B1075B849C7}"/>
              </a:ext>
            </a:extLst>
          </p:cNvPr>
          <p:cNvPicPr>
            <a:picLocks noChangeAspect="1"/>
          </p:cNvPicPr>
          <p:nvPr/>
        </p:nvPicPr>
        <p:blipFill rotWithShape="1">
          <a:blip r:embed="rId2">
            <a:extLst>
              <a:ext uri="{28A0092B-C50C-407E-A947-70E740481C1C}">
                <a14:useLocalDpi xmlns:a14="http://schemas.microsoft.com/office/drawing/2010/main" val="0"/>
              </a:ext>
            </a:extLst>
          </a:blip>
          <a:srcRect t="10135" b="6528"/>
          <a:stretch>
            <a:fillRect/>
          </a:stretch>
        </p:blipFill>
        <p:spPr bwMode="auto">
          <a:xfrm>
            <a:off x="1371600" y="1340802"/>
            <a:ext cx="9396663" cy="480733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4149358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772</TotalTime>
  <Words>740</Words>
  <Application>Microsoft Office PowerPoint</Application>
  <PresentationFormat>Widescreen</PresentationFormat>
  <Paragraphs>31</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Wingdings</vt:lpstr>
      <vt:lpstr>Retrospect</vt:lpstr>
      <vt:lpstr>PowerPoint Presentation</vt:lpstr>
      <vt:lpstr>PowerPoint Presentation</vt:lpstr>
      <vt:lpstr>PowerPoint Presentation</vt:lpstr>
      <vt:lpstr>PowerPoint Presentation</vt:lpstr>
      <vt:lpstr>Schema for customer table</vt:lpstr>
      <vt:lpstr>PowerPoint Presentation</vt:lpstr>
      <vt:lpstr>Schema for Transactions table</vt:lpstr>
      <vt:lpstr>Schema for Loans table</vt:lpstr>
      <vt:lpstr>Schema for cards table</vt:lpstr>
      <vt:lpstr> Customer base calculation Following select * from customers query is used for customer base. Result : It will help to know customer base for marketing.  </vt:lpstr>
      <vt:lpstr>Loan status Following select query with where condition and in is use for loan status Result : It helps to know pending for disbursement</vt:lpstr>
      <vt:lpstr>Account open status Following select * from accounts query is use for account open status Result : It helps to know how many accounts open with balance on date</vt:lpstr>
      <vt:lpstr>Loans with high interest Following select query is use with where condition and greater than for loans with high rate. Result : It helps to know how many loans disbursed with high rate which generate high return.</vt:lpstr>
      <vt:lpstr>Debit, Credit card status Following select * from cards query is use for debit and credit card holders Result : It helps to contact debit card holders for credit card</vt:lpstr>
      <vt:lpstr>Account Balance Following left join query is use for accounts with big balance Result : It helps to know HNI(High Net-Worth Individual) for best service</vt:lpstr>
      <vt:lpstr>Loan Amounts Following left join query is use for loans with big disbursement. Result : It helps to know for more business in future</vt:lpstr>
      <vt:lpstr>Debit card status Following left join query is use for debit card holders. Result : It helps to know of debit card holders for future reference. </vt:lpstr>
      <vt:lpstr>Transaction status Following left join query is use for cash transaction. Result : It helps to know convincing for digital transaction</vt:lpstr>
      <vt:lpstr>Sanction status Following left join query is use for sanction status. Result : It helps to know to convert sanction to disburse.</vt:lpstr>
      <vt:lpstr>UPI status Following Windows sum query with partition by is use for upi status. Result : It helps to know running total of upi and cash transaction to convert cash to upi.</vt:lpstr>
      <vt:lpstr>HIGH balance status Following Windows rank query with partition by is use for balance status. Result : It helps to know highest balance among all account but result shows 1 as only one transaction entry per account.</vt:lpstr>
      <vt:lpstr>Average balance status Following Multirow subquery is use for average balance. Result : It helps to know accounts maintaining high balance than average balance.</vt:lpstr>
      <vt:lpstr>Disbursed data Following scalar or single row subquery is use for disburse amount. Result : It helps to know amount of disbursement.</vt:lpstr>
      <vt:lpstr>Average Disbursement Following correlated subquery is use for average disburse amount. Result : It helps to know customers who’s disbursement is more thane average.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50</cp:revision>
  <dcterms:created xsi:type="dcterms:W3CDTF">2026-05-01T13:09:41Z</dcterms:created>
  <dcterms:modified xsi:type="dcterms:W3CDTF">2026-05-20T13:12:07Z</dcterms:modified>
</cp:coreProperties>
</file>